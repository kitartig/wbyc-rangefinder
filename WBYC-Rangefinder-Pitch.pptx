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story: 1920 Ross course, 2026 tool. Everything on screen tonight runs offline on any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"too much detail" comes up: the home screen is three big numbers, like the sprinkler heads. Everything else is opt-in taps. It passes the grandparent test on the first 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"who cares" answer lives here: members are already using outside golf apps on our fairways — paying for them, and feeding them location data. The question is not whether an app is used at WBYC; it is whose.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"why not one-time?": a one-time sale hands the club a depreciating asset; the annual trade buys a living service — seasonal re-survey, fixes, roadmap — and the ask sits below the $18K/yr member-value ceiling. Either side can walk at renewal.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stewardship line before taking questions. The data answer is a shield, not the pitch — use it only when liability comes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offering a live demo round with the membership committee.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WBYC RANGEFINDER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58368" y="30632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digital twin of the club’s Donald Ross classic — built by a member, for the members.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58368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5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proposal to trade craft for dues</a:t>
            </a:r>
            <a:pPr indent="0" marL="0">
              <a:buNone/>
            </a:pPr>
            <a:r>
              <a:rPr lang="en-US" sz="1400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Kit Artig   ·  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What the club would own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380744"/>
            <a:ext cx="384048" cy="384048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80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3258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GPS rangefinder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655064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 / center / back to every green, live hazard carries, dogleg targets — tuned to our 18 and nothing else.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380744"/>
            <a:ext cx="384048" cy="384048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380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3258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“Plays like” physics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1655064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USGS lidar elevation (+ live wind) adjusts every number. One tap returns it to tournament-legal raw yardage.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862072"/>
            <a:ext cx="384048" cy="384048"/>
          </a:xfrm>
          <a:prstGeom prst="ellipse">
            <a:avLst/>
          </a:prstGeom>
          <a:solidFill>
            <a:srgbClr val="F000C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8072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3D flyover + shot tracer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13639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TV-style ball flight over real terrain, with yardage, apex and club stats pinned to the arc.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2862072"/>
            <a:ext cx="384048" cy="384048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28072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Scorecard &amp; stats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313639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Strokes, putts, fairways, GIR, club distances learned from real shots, and a one-tap GHIN posting helper.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343400"/>
            <a:ext cx="384048" cy="384048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2885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Green reading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61772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Fall-line arrows and 2-ft contours on every green complex, from survey-grade lidar.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4343400"/>
            <a:ext cx="384048" cy="384048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42885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Offline PWA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61772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app store, no accounts, no ads, no data collection. Install from a link; works with zero signal.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19355"/>
            </a:avLst>
          </a:prstGeom>
          <a:solidFill>
            <a:srgbClr val="E9F7E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87044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Zero member data leaves the phone. </a:t>
            </a:r>
            <a:pPr indent="0" marL="0">
              <a:buNone/>
            </a:pPr>
            <a:r>
              <a:rPr lang="en-US" sz="130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tracking, no vendor lock-in, no per-member fees — the opposite of every commercial golf app.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Craftsmanship you can audit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21208" y="10789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yardage in the app traces to an official or public source — nothing is guessed.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422392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Source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What it provides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Pedigree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Official WBYC scorecard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Par, handicap and yardage for all 4 tee sets, men’s &amp; women’s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Club-published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OpenStreetMap survey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Green polygons, centerlines, 69 bunkers, 5 water hazards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ODbL, attribution kept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USGS 3DEP lidar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Elevation grid + 1,839 contour lines at 2-ft intervals; 3-m detail on every green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U.S. public domain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USGS NAIP imagery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 aerial photos, ~1 m/pixel, geo-aligned under every hole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2A1C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U.S. public domain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70916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86460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±16 yds</a:t>
            </a:r>
            <a:endParaRPr lang="en-US" sz="3400" dirty="0"/>
          </a:p>
          <a:p>
            <a:pPr indent="0" marL="0">
              <a:buNone/>
            </a:pPr>
            <a:r>
              <a:rPr lang="en-US" sz="125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measured vs. the printed card, on every tee of every hole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291072" y="470916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65392" y="486460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00C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ft</a:t>
            </a:r>
            <a:endParaRPr lang="en-US" sz="3400" dirty="0"/>
          </a:p>
          <a:p>
            <a:pPr indent="0" marL="0">
              <a:buNone/>
            </a:pPr>
            <a:r>
              <a:rPr lang="en-US" sz="125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contour interval on the greens — finer than the printed pin sheets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One shot, three ways to see it</a:t>
            </a:r>
            <a:endParaRPr lang="en-US" sz="3600" dirty="0"/>
          </a:p>
        </p:txBody>
      </p:sp>
      <p:pic>
        <p:nvPicPr>
          <p:cNvPr id="3" name="Image 0" descr="/sessions/kind-great-lovelace/deck/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83112" cy="3547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Overhead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5394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Flight arc over the hole map, with carries, wind and club rings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325112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Profile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25112" y="5394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Terrain cross-section that shows why a shot plays long or short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47304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00C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3D tracer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47304" y="5394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Broadcast-style flyover with yardage stats pinned at the apex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The 19th hole: take the round home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21208" y="10789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profile, no sign-up: score a hole or mark a shot and the round saves itself — then reviews best on the big screen at home. The replay is the reward that keeps the app in the round.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84048" cy="384048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6916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Replay every hole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03911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3D flyover, tracer and flight stats work from the couch exactly as they did on the tee — spin the terrain, argue the club choice.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384048" cy="384048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Walk the card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03911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Strokes, putts, fairways and GIR hole by hole; tap any row to jump back to that hole’s map and relive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384048" cy="384048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4747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Watch the season build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82219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Vs-par trend, personal bests, last-five averages, and club distances that keep learning from every marked shot.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520440"/>
            <a:ext cx="384048" cy="384048"/>
          </a:xfrm>
          <a:prstGeom prst="ellipse">
            <a:avLst/>
          </a:prstGeom>
          <a:solidFill>
            <a:srgbClr val="F000C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34747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Any screen, no fuss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382219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It’s a web app — phone on the course, iPad on the sofa, laptop in the den. Same link, no installs, no accounts.</a:t>
            </a:r>
            <a:endParaRPr lang="en-US" sz="1250" dirty="0"/>
          </a:p>
        </p:txBody>
      </p:sp>
      <p:pic>
        <p:nvPicPr>
          <p:cNvPr id="20" name="Image 0" descr="/sessions/kind-great-lovelace/deck/motif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595360" y="164592"/>
            <a:ext cx="3200400" cy="11704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1208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8A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Rounds are banked on the device that recorded them — that’s the privacy promise. Household sync between phone and iPad is on the roadmap.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5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What members already pay for less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$60–100 / yr</a:t>
            </a:r>
            <a:endParaRPr lang="en-US" sz="2200" dirty="0"/>
          </a:p>
          <a:p>
            <a:pPr indent="0" marL="0">
              <a:buNone/>
            </a:pPr>
            <a:r>
              <a:rPr lang="en-US" sz="125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Golfshot Pro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55848" y="14173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84448" y="1600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$50–96 / yr</a:t>
            </a:r>
            <a:endParaRPr lang="en-US" sz="2200" dirty="0"/>
          </a:p>
          <a:p>
            <a:pPr indent="0" marL="0">
              <a:buNone/>
            </a:pPr>
            <a:r>
              <a:rPr lang="en-US" sz="125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18Birdies Premium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08776" y="14173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7376" y="1600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$50 / yr</a:t>
            </a:r>
            <a:endParaRPr lang="en-US" sz="2200" dirty="0"/>
          </a:p>
          <a:p>
            <a:pPr indent="0" marL="0">
              <a:buNone/>
            </a:pPr>
            <a:r>
              <a:rPr lang="en-US" sz="125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GolfLogix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061704" y="14173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90304" y="1600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$99+ / yr</a:t>
            </a:r>
            <a:endParaRPr lang="en-US" sz="2200" dirty="0"/>
          </a:p>
          <a:p>
            <a:pPr indent="0" marL="0">
              <a:buNone/>
            </a:pPr>
            <a:r>
              <a:rPr lang="en-US" sz="125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Arccos Caddie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208" y="3017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… for generic maps of 40,000 courses they don’t play, behind accounts, ads and upsells.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11183112" cy="1965960"/>
          </a:xfrm>
          <a:prstGeom prst="roundRect">
            <a:avLst>
              <a:gd name="adj" fmla="val 6512"/>
            </a:avLst>
          </a:prstGeom>
          <a:solidFill>
            <a:srgbClr val="0E2A1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319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Rangefinder: $0 to every member.</a:t>
            </a:r>
            <a:endParaRPr lang="en-US" sz="2600" dirty="0"/>
          </a:p>
          <a:p>
            <a:pPr indent="0" marL="0">
              <a:buNone/>
            </a:pPr>
            <a:r>
              <a:rPr lang="en-US" sz="1450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course, drawn from lidar and the club’s own card — sharper than any of them on the only 18 holes that matter here. ~300 golfing members × $60/yr equivalent ≈ $18,000/yr of member value.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Consumer pricing: ScoringZone &amp; Birvix app-pricing surveys, 2026. Member count is an assumption — replace with the club’s roster.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What it would cost to commission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$45K–$75K</a:t>
            </a:r>
            <a:endParaRPr lang="en-US" sz="6400" dirty="0"/>
          </a:p>
          <a:p>
            <a:pPr indent="0" marL="0">
              <a:buNone/>
            </a:pPr>
            <a:r>
              <a:rPr lang="en-US" sz="15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typical agency quote for a custom GPS / location app of this scope, single platform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6583680" y="1600200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E9F7EE"/>
          </a:solidFill>
          <a:ln/>
        </p:spPr>
      </p:sp>
      <p:sp>
        <p:nvSpPr>
          <p:cNvPr id="5" name="Text 3"/>
          <p:cNvSpPr/>
          <p:nvPr/>
        </p:nvSpPr>
        <p:spPr>
          <a:xfrm>
            <a:off x="681228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app (forms + content)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$15K – $30K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2313432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E9F7EE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Mid-complexity, GPS &amp; sensors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0" y="23591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$30K – $80K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3026664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E9F7EE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30723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Location-tracking app, one platform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0" y="30723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$45K – $60K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11183112" cy="1691640"/>
          </a:xfrm>
          <a:prstGeom prst="roundRect">
            <a:avLst>
              <a:gd name="adj" fmla="val 7568"/>
            </a:avLst>
          </a:prstGeom>
          <a:solidFill>
            <a:srgbClr val="F4FBF6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1596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And the quotes above don’t include the hard part. </a:t>
            </a:r>
            <a:pPr indent="0" marL="0">
              <a:buNone/>
            </a:pPr>
            <a:r>
              <a:rPr lang="en-US" sz="140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Survey-grade course geometry, lidar terrain processing, per-green 3-m elevation patches, offline packaging and a season of on-course tuning are specialist work no template shop delivers. The club would be buying the finished, validated article — not a statement of work.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Dev-cost ranges: Business of Apps, TopFlight Apps &amp; USM Systems 2025–26 pricing guides.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A fair value, three 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56616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572768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Replacement cost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$45K–$75K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one-time build, before data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25112" y="1371600"/>
            <a:ext cx="356616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81144" y="1572768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Member value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$18K / yr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300 golfers × $60/yr app-subscription equivalent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47304" y="1371600"/>
            <a:ext cx="356616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03336" y="1572768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Club-software lens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$3K–$10K / yr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white-label club apps &amp; GPS licensing (quote-based)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794760"/>
            <a:ext cx="11183112" cy="1920240"/>
          </a:xfrm>
          <a:prstGeom prst="roundRect">
            <a:avLst>
              <a:gd name="adj" fmla="val 6667"/>
            </a:avLst>
          </a:prstGeom>
          <a:solidFill>
            <a:srgbClr val="0E2A1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233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A5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ASK</a:t>
            </a:r>
            <a:endParaRPr lang="en-US" sz="13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Annual dues in trade  —  est. $8K–$12K / yr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Below the member-value lens, inside the club-software lens, and a fraction of replacement cost. Cash outlay for the club: $0.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Dues estimate from public reporting (2020 tiers $374–$960/mo; initiation raised to $65K in 2025 — MSPBJ). Substitute the actual figure.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The proposal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40680" cy="4206240"/>
          </a:xfrm>
          <a:prstGeom prst="roundRect">
            <a:avLst>
              <a:gd name="adj" fmla="val 3043"/>
            </a:avLst>
          </a:prstGeom>
          <a:solidFill>
            <a:srgbClr val="F4FBF6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CLUB RECEIVES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52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Exclusive club license to WBYC Rangefinder for members and guests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52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Hosting, maintenance and OS/browser updates — handled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52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Reasonable revisions and update services, free (details next slide)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2352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member-built story for the club’s 106th season — and a recruiting talking point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45352" y="1371600"/>
            <a:ext cx="5440680" cy="4206240"/>
          </a:xfrm>
          <a:prstGeom prst="roundRect">
            <a:avLst>
              <a:gd name="adj" fmla="val 3043"/>
            </a:avLst>
          </a:prstGeom>
          <a:solidFill>
            <a:srgbClr val="0E2A1C"/>
          </a:solidFill>
          <a:ln/>
        </p:spPr>
      </p:sp>
      <p:sp>
        <p:nvSpPr>
          <p:cNvPr id="7" name="Text 5"/>
          <p:cNvSpPr/>
          <p:nvPr/>
        </p:nvSpPr>
        <p:spPr>
          <a:xfrm>
            <a:off x="6611112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A5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EXCHANGE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1112" y="21031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Annual dues credited in trade for the license + services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Author retains the underlying code and tooling (the club’s data stays the club’s)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Renewal is annual and either side can walk — low ceremony, low risk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i="1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Scorekeeper’s honorific optional, but welcomed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1208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as a barter of services — both sides should confirm tax treatment with their accountants.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Included free: revisions &amp; updates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35661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73352"/>
            <a:ext cx="365760" cy="365760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Seasonal data refresh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Tee, pin-area, bunker and hazard changes re-surveyed and shipped each spring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5661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673352"/>
            <a:ext cx="365760" cy="365760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Reasonable revisions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UI polish, palette requests, new stats — the same responsiveness that built this app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35661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1624" y="1673352"/>
            <a:ext cx="365760" cy="365760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21624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Fixes &amp; compatibility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21624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Bug fixes, new-phone and browser updates, within days not quarters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35661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59352"/>
            <a:ext cx="365760" cy="365760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On-course validation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walked verification round every season, every tee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25112" y="3703320"/>
            <a:ext cx="35661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9432" y="3959352"/>
            <a:ext cx="365760" cy="365760"/>
          </a:xfrm>
          <a:prstGeom prst="ellipse">
            <a:avLst/>
          </a:prstGeom>
          <a:solidFill>
            <a:srgbClr val="F000C2"/>
          </a:solidFill>
          <a:ln/>
        </p:spPr>
      </p:sp>
      <p:sp>
        <p:nvSpPr>
          <p:cNvPr id="25" name="Text 23"/>
          <p:cNvSpPr/>
          <p:nvPr/>
        </p:nvSpPr>
        <p:spPr>
          <a:xfrm>
            <a:off x="459943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9432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roadmap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9432" y="4846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capabilities keep landing (see next slide) at no added cost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47304" y="3703320"/>
            <a:ext cx="35661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21624" y="3959352"/>
            <a:ext cx="365760" cy="365760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30" name="Text 28"/>
          <p:cNvSpPr/>
          <p:nvPr/>
        </p:nvSpPr>
        <p:spPr>
          <a:xfrm>
            <a:off x="8421624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21624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Member support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21624" y="4846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named human who plays here, not a ticket queue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1208" y="6053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“Reasonable” means the good-faith standard we’d expect of any member trade — scoped in the one-page agreement.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Already moving: the roadmap</a:t>
            </a:r>
            <a:endParaRPr lang="en-US" sz="3600" dirty="0"/>
          </a:p>
        </p:txBody>
      </p:sp>
      <p:pic>
        <p:nvPicPr>
          <p:cNvPr id="3" name="Image 0" descr="/sessions/kind-great-lovelace/deck/motif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7863840" y="228600"/>
            <a:ext cx="3840480" cy="14081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847088"/>
            <a:ext cx="457200" cy="457200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5" name="Shape 2"/>
          <p:cNvSpPr/>
          <p:nvPr/>
        </p:nvSpPr>
        <p:spPr>
          <a:xfrm>
            <a:off x="932688" y="2304288"/>
            <a:ext cx="54864" cy="960120"/>
          </a:xfrm>
          <a:prstGeom prst="rect">
            <a:avLst/>
          </a:prstGeom>
          <a:solidFill>
            <a:srgbClr val="D5E8DC"/>
          </a:solidFill>
          <a:ln/>
        </p:spPr>
      </p:sp>
      <p:sp>
        <p:nvSpPr>
          <p:cNvPr id="6" name="Text 3"/>
          <p:cNvSpPr/>
          <p:nvPr/>
        </p:nvSpPr>
        <p:spPr>
          <a:xfrm>
            <a:off x="1463040" y="1737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NOW — shipping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173736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Shot tracer with flight stats, plays-like profile view, green fall-lines, club-distance learning, scorecard + GHIN helper, offline install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3264408"/>
            <a:ext cx="457200" cy="457200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9" name="Shape 6"/>
          <p:cNvSpPr/>
          <p:nvPr/>
        </p:nvSpPr>
        <p:spPr>
          <a:xfrm>
            <a:off x="932688" y="3721608"/>
            <a:ext cx="54864" cy="960120"/>
          </a:xfrm>
          <a:prstGeom prst="rect">
            <a:avLst/>
          </a:prstGeom>
          <a:solidFill>
            <a:srgbClr val="D5E8DC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 2026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89120" y="315468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Member beta round, GPS capture of the one unmapped tee (Hole 5 Red), back-tee refinements, feedback sweep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1520" y="4681728"/>
            <a:ext cx="457200" cy="457200"/>
          </a:xfrm>
          <a:prstGeom prst="ellipse">
            <a:avLst/>
          </a:prstGeom>
          <a:solidFill>
            <a:srgbClr val="F000C2"/>
          </a:solidFill>
          <a:ln/>
        </p:spPr>
      </p:sp>
      <p:sp>
        <p:nvSpPr>
          <p:cNvPr id="13" name="Text 10"/>
          <p:cNvSpPr/>
          <p:nvPr/>
        </p:nvSpPr>
        <p:spPr>
          <a:xfrm>
            <a:off x="1463040" y="4572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2027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89120" y="457200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AI-illustrated hole art, cinematic hole flyovers, phone-to-iPad round sync, practice-round mode — club input steers the order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Anticipated questions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21208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is a stewardship project — the Ross course documented to two feet. A yardage book that happens to fit in a pocket.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76672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E7A4A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“Isn’t this too much detail for a traditional club?”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40487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front page is three big numbers — front, center, back — same as the sprinkler heads. Every layer beyond that is optional and waits for a tap. Clubs commission yardage books and course portraits without blinking; this is both.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76672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74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F000C2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“Who cares? Will anyone actually use it?”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0" y="240487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Members already do — on our fairways, today, paying $60–100/yr to outside apps for fuzzy generic maps that harvest their location. The club can’t stop that. The only open question is whether the default app at WBYC is a stranger’s or the club’s own.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5376672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E7A4A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“What about member data?”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55371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There is none. No accounts, no sign-up, no analytics; rounds live on the member’s own phone and nothing leaves it. That is less data liability than any vendor app the club could buy.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840480"/>
            <a:ext cx="5376672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23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E7A4A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“Why annual, not one-time?”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83680" y="455371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6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Because it’s a living service, not a purchase: greens re-surveyed each season, fixes within days, a roadmap the club steers. Renewal is annual and either side can walk — the club never holds a depreciating asset.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WBYC Rangefinder · a member-built proposal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F13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Didot" pitchFamily="34" charset="0"/>
                <a:ea typeface="Didot" pitchFamily="34" charset="-122"/>
                <a:cs typeface="Didot" pitchFamily="34" charset="-120"/>
              </a:rPr>
              <a:t>The club in every member’s pocket.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356616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walkthrough on the first tee will make the case better than any slide. Shall we book it?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Artig</a:t>
            </a:r>
            <a:pPr indent="0" marL="0">
              <a:buNone/>
            </a:pPr>
            <a:r>
              <a:rPr lang="en-US" sz="1500" dirty="0">
                <a:solidFill>
                  <a:srgbClr val="C9EED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kit@kitartig.com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2026-07-13T02:29:36Z</dcterms:created>
  <dcterms:modified xsi:type="dcterms:W3CDTF">2026-07-13T02:29:36Z</dcterms:modified>
</cp:coreProperties>
</file>