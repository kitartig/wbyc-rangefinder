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story: 1920 Ross course, 2026 tool. Everything on screen tonight runs offline on any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offering a live demo round with the membership committee.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65960"/>
            <a:ext cx="8778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WBYC RANGEFINDER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58368" y="3063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digital twin of the club’s Donald Ross classic — built by a member, for the members.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5989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proposal to trade craft for dues</a:t>
            </a:r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 Artig   · 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the club would own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5156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GPS rangefinder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5156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Front / center / back to every green, live hazard carries, dogleg targets — tuned to our 18 and nothing else.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09360" y="1380744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8" name="Text 6"/>
          <p:cNvSpPr/>
          <p:nvPr/>
        </p:nvSpPr>
        <p:spPr>
          <a:xfrm>
            <a:off x="6309360" y="1380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3258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“Plays like” physics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0" y="1655064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USGS lidar elevation (+ live wind) adjusts every number. One tap returns it to tournament-legal raw yardage.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2862072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flyover + shot tracer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5156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TV-style ball flight over real terrain, with yardage, apex and club stats pinned to the arc.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2862072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858000" y="28072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Scorecard &amp; stats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0" y="3136392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fairways, GIR, club distances learned from real shots, and a one-tap GHIN posting helper.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Green reading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05156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Fall-line arrows and 2-ft contours on every green complex, from survey-grade lidar.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09360" y="4343400"/>
            <a:ext cx="384048" cy="384048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28853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Offline PWA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858000" y="4617720"/>
            <a:ext cx="5074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app store, no accounts, no ads, no data collection. Install from a link; works with zero signal.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806440"/>
            <a:ext cx="11183112" cy="566928"/>
          </a:xfrm>
          <a:prstGeom prst="roundRect">
            <a:avLst>
              <a:gd name="adj" fmla="val 19355"/>
            </a:avLst>
          </a:prstGeom>
          <a:solidFill>
            <a:srgbClr val="E9F7EE"/>
          </a:solidFill>
          <a:ln/>
        </p:spPr>
      </p:sp>
      <p:sp>
        <p:nvSpPr>
          <p:cNvPr id="28" name="Text 26"/>
          <p:cNvSpPr/>
          <p:nvPr/>
        </p:nvSpPr>
        <p:spPr>
          <a:xfrm>
            <a:off x="777240" y="5870448"/>
            <a:ext cx="10698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Zero member data leaves the phone. </a:t>
            </a:r>
            <a:pPr indent="0" marL="0">
              <a:buNone/>
            </a:pPr>
            <a:r>
              <a:rPr lang="en-US" sz="13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tracking, no vendor lock-in, no per-member fees — the opposite of every commercial golf app.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Craftsmanship you can audit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Every yardage in the app traces to an official or public source — nothing is guessed.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5422392"/>
                <a:gridCol w="2743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Source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What it provides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Pedigree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7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Official WBYC scorecard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Par, handicap and yardage for all 4 tee sets, men’s &amp; women’s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Club-published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OpenStreetMap survey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Green polygons, centerlines, 69 bunkers, 5 water hazards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ODbL, attribution kept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3DEP lidar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Elevation grid + 1,839 contour lines at 2-ft intervals; 3-m detail on every green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USGS NAIP imagery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18 aerial photos, ~1 m/pixel, geo-aligned under every hole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0E2A1C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U.S. public domain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82296" marR="82296" marT="82296" marB="82296" anchor="ctr">
                    <a:lnL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02920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±16 yds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measured vs. the printed card, on every tee of every hole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6291072" y="470916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65392" y="4864608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ft</a:t>
            </a:r>
            <a:endParaRPr lang="en-US" sz="34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contour interval on the greens — finer than the printed pin sheets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One shot, three ways to see it</a:t>
            </a:r>
            <a:endParaRPr lang="en-US" sz="3600" dirty="0"/>
          </a:p>
        </p:txBody>
      </p:sp>
      <p:pic>
        <p:nvPicPr>
          <p:cNvPr id="3" name="Image 0" descr="/sessions/kind-great-lovelace/deck/view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1183112" cy="35478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02920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Overhead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02920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Flight arc over the hole map, with carries, wind and club rings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4325112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Profile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25112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Terrain cross-section that shows why a shot plays long or short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147304" y="50749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00C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3D tracer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147304" y="53949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Broadcast-style flyover with yardage stats pinned at the apex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2A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19th hole: take the round home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21208" y="1078992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 profile, no sign-up: score a hole or mark a shot and the round saves itself — then reviews best on the big screen at home. The replay is the reward that keeps the app in the round.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50292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Replay every hole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3D flyover, tracer and flight stats work from the couch exactly as they did on the tee — spin the terrain, argue the club choice.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73736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9" name="Text 7"/>
          <p:cNvSpPr/>
          <p:nvPr/>
        </p:nvSpPr>
        <p:spPr>
          <a:xfrm>
            <a:off x="63093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Walk the card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858000" y="203911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Strokes, putts, fairways and GIR hole by hole; tap any row to jump back to that hole’s map and relive it.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20440"/>
            <a:ext cx="384048" cy="384048"/>
          </a:xfrm>
          <a:prstGeom prst="ellipse">
            <a:avLst/>
          </a:prstGeom>
          <a:solidFill>
            <a:srgbClr val="2FBF71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Watch the season build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156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Vs-par trend, personal bests, last-five averages, and club distances that keep learning from every marked shot.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3520440"/>
            <a:ext cx="384048" cy="384048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⌂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3474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Any screen, no fuss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0" y="3822192"/>
            <a:ext cx="5074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It’s a web app — phone on the course, iPad on the sofa, laptop in the den. Same link, no installs, no accounts.</a:t>
            </a:r>
            <a:endParaRPr lang="en-US" sz="1250" dirty="0"/>
          </a:p>
        </p:txBody>
      </p:sp>
      <p:pic>
        <p:nvPicPr>
          <p:cNvPr id="20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0000"/>
          </a:blip>
          <a:stretch>
            <a:fillRect/>
          </a:stretch>
        </p:blipFill>
        <p:spPr>
          <a:xfrm>
            <a:off x="8595360" y="164592"/>
            <a:ext cx="3200400" cy="1170432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2120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B8A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Rounds are banked on the device that recorded them — that’s the privacy promise. Household sync between phone and iPad is on the roadmap.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958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members already pay for less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$60–100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Golfshot Pro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355848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84448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$50–96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18Birdies Premium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08776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$50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GolfLogix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9061704" y="141732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90304" y="16002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$99+ / yr</a:t>
            </a:r>
            <a:endParaRPr lang="en-US" sz="2200" dirty="0"/>
          </a:p>
          <a:p>
            <a:pPr indent="0" marL="0">
              <a:buNone/>
            </a:pPr>
            <a:r>
              <a:rPr lang="en-US" sz="12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Arccos Caddie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21208" y="3017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… for generic maps of 40,000 courses they don’t play, behind accounts, ads and upsells.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3657600"/>
            <a:ext cx="11183112" cy="1965960"/>
          </a:xfrm>
          <a:prstGeom prst="roundRect">
            <a:avLst>
              <a:gd name="adj" fmla="val 6512"/>
            </a:avLst>
          </a:prstGeom>
          <a:solidFill>
            <a:srgbClr val="0E2A1C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9319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Rangefinder: $0 to every member.</a:t>
            </a:r>
            <a:endParaRPr lang="en-US" sz="2600" dirty="0"/>
          </a:p>
          <a:p>
            <a:pPr indent="0" marL="0">
              <a:buNone/>
            </a:pPr>
            <a:r>
              <a:rPr lang="en-US" sz="145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course, drawn from lidar and the club’s own card — sharper than any of them on the only 18 holes that matter here. ~300 golfing members × $60/yr equivalent ≈ $18,000/yr of member value.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Consumer pricing: ScoringZone &amp; Birvix app-pricing surveys, 2026. Member count is an assumption — replace with the club’s roster.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What it would cost to commission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02920" y="1463040"/>
            <a:ext cx="5669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6400" dirty="0"/>
          </a:p>
          <a:p>
            <a:pPr indent="0" marL="0">
              <a:buNone/>
            </a:pPr>
            <a:r>
              <a:rPr lang="en-US" sz="15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typical agency quote for a custom GPS / location app of this scope, single platform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583680" y="1600200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5" name="Text 3"/>
          <p:cNvSpPr/>
          <p:nvPr/>
        </p:nvSpPr>
        <p:spPr>
          <a:xfrm>
            <a:off x="6812280" y="16459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Simple app (forms + content)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10058400" y="16459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$15K – $30K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2313432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8" name="Text 6"/>
          <p:cNvSpPr/>
          <p:nvPr/>
        </p:nvSpPr>
        <p:spPr>
          <a:xfrm>
            <a:off x="6812280" y="235915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Mid-complexity, GPS &amp; sensors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0058400" y="235915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$30K – $80K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0" y="3026664"/>
            <a:ext cx="5074920" cy="566928"/>
          </a:xfrm>
          <a:prstGeom prst="roundRect">
            <a:avLst>
              <a:gd name="adj" fmla="val 16129"/>
            </a:avLst>
          </a:prstGeom>
          <a:solidFill>
            <a:srgbClr val="E9F7EE"/>
          </a:solidFill>
          <a:ln/>
        </p:spPr>
      </p:sp>
      <p:sp>
        <p:nvSpPr>
          <p:cNvPr id="11" name="Text 9"/>
          <p:cNvSpPr/>
          <p:nvPr/>
        </p:nvSpPr>
        <p:spPr>
          <a:xfrm>
            <a:off x="6812280" y="307238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Location-tracking app, one platform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0058400" y="307238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 – $60K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4069080"/>
            <a:ext cx="11183112" cy="1691640"/>
          </a:xfrm>
          <a:prstGeom prst="roundRect">
            <a:avLst>
              <a:gd name="adj" fmla="val 7568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315968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And the quotes above don’t include the hard part. </a:t>
            </a:r>
            <a:pPr indent="0" marL="0">
              <a:buNone/>
            </a:pPr>
            <a:r>
              <a:rPr lang="en-US" sz="140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Survey-grade course geometry, lidar terrain processing, per-green 3-m elevation patches, offline packaging and a season of on-course tuning are specialist work no template shop delivers. The club would be buying the finished, validated article — not a statement of work.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Dev-cost ranges: Business of Apps, TopFlight Apps &amp; USM Systems 2025–26 pricing guides.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 fair value, three ways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58952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Replacement cost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$45K–$75K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one-time build, before data work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325112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81144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value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≈ $18K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300 golfers × $60/yr app-subscription equivalent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47304" y="1371600"/>
            <a:ext cx="35661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03336" y="1572768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Club-software lens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$3K–$10K / yr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white-label club apps &amp; GPS licensing (quote-based)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183112" cy="1920240"/>
          </a:xfrm>
          <a:prstGeom prst="roundRect">
            <a:avLst>
              <a:gd name="adj" fmla="val 6667"/>
            </a:avLst>
          </a:prstGeom>
          <a:solidFill>
            <a:srgbClr val="0E2A1C"/>
          </a:solidFill>
          <a:ln/>
        </p:spPr>
      </p:sp>
      <p:sp>
        <p:nvSpPr>
          <p:cNvPr id="10" name="Text 8"/>
          <p:cNvSpPr/>
          <p:nvPr/>
        </p:nvSpPr>
        <p:spPr>
          <a:xfrm>
            <a:off x="868680" y="402336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ASK</a:t>
            </a:r>
            <a:endParaRPr lang="en-US" sz="13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in trade  —  est. $8K–$12K / yr</a:t>
            </a:r>
            <a:endParaRPr lang="en-US" sz="1300" dirty="0"/>
          </a:p>
          <a:p>
            <a:pPr indent="0" marL="0">
              <a:buNone/>
            </a:pPr>
            <a:r>
              <a:rPr lang="en-US" sz="14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Below the member-value lens, inside the club-software lens, and a fraction of replacement cost. Cash outlay for the club: $0.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598932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Dues estimate from public reporting (2020 tiers $374–$960/mo; initiation raised to $65K in 2025 — MSPBJ). Substitute the actual figure.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proposal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F4FBF6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7A4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THE CLUB RECEIVES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Exclusive club license to WBYC Rangefinder for members and guests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Hosting, maintenance and OS/browser updates — handled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 and update services, free (details next slide)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dirty="0">
                <a:solidFill>
                  <a:srgbClr val="22352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member-built story for the club’s 106th season — and a recruiting talking point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245352" y="1371600"/>
            <a:ext cx="5440680" cy="4206240"/>
          </a:xfrm>
          <a:prstGeom prst="roundRect">
            <a:avLst>
              <a:gd name="adj" fmla="val 3043"/>
            </a:avLst>
          </a:prstGeom>
          <a:solidFill>
            <a:srgbClr val="0E2A1C"/>
          </a:solidFill>
          <a:ln/>
        </p:spPr>
      </p:sp>
      <p:sp>
        <p:nvSpPr>
          <p:cNvPr id="7" name="Text 5"/>
          <p:cNvSpPr/>
          <p:nvPr/>
        </p:nvSpPr>
        <p:spPr>
          <a:xfrm>
            <a:off x="6611112" y="1645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A5EB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 EXCHANGE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11112" y="2103120"/>
            <a:ext cx="4800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Annual dues credited in trade for the license + services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Author retains the underlying code and tooling (the club’s data stays the club’s)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Renewal is annual and either side can walk — low ceremony, low risk</a:t>
            </a:r>
            <a:endParaRPr lang="en-US" sz="1450" dirty="0"/>
          </a:p>
          <a:p>
            <a:pPr marL="342900" indent="-342900">
              <a:buSzPct val="100000"/>
              <a:buChar char="•"/>
            </a:pPr>
            <a:r>
              <a:rPr lang="en-US" sz="145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Scorekeeper’s honorific optional, but welcomed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21208" y="58978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Structured as a barter of services — both sides should confirm tax treatment with their accountants.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B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Included free: revisions &amp; updates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Seasonal data refresh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Tee, pin-area, bunker and hazard changes re-surveyed and shipped each spring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0" name="Text 8"/>
          <p:cNvSpPr/>
          <p:nvPr/>
        </p:nvSpPr>
        <p:spPr>
          <a:xfrm>
            <a:off x="4599432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99432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Reasonable revisions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99432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UI polish, palette requests, new stats — the same responsiveness that built this app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47304" y="1417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21624" y="1673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15" name="Text 13"/>
          <p:cNvSpPr/>
          <p:nvPr/>
        </p:nvSpPr>
        <p:spPr>
          <a:xfrm>
            <a:off x="8421624" y="1673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21624" y="2194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Fixes &amp; compatibility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421624" y="2560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Bug fixes, new-phone and browser updates, within days not quarters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02920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On-course validation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walked verification round every season, every tee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325112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99432" y="3959352"/>
            <a:ext cx="365760" cy="36576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25" name="Text 23"/>
          <p:cNvSpPr/>
          <p:nvPr/>
        </p:nvSpPr>
        <p:spPr>
          <a:xfrm>
            <a:off x="4599432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599432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Feature roadmap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9432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New capabilities keep landing (see next slide) at no added cost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147304" y="3703320"/>
            <a:ext cx="3566160" cy="201168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5E8D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21624" y="3959352"/>
            <a:ext cx="365760" cy="36576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30" name="Text 28"/>
          <p:cNvSpPr/>
          <p:nvPr/>
        </p:nvSpPr>
        <p:spPr>
          <a:xfrm>
            <a:off x="8421624" y="39593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✓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21624" y="44805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support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421624" y="484632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named human who plays here, not a ticket queue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21208" y="605332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“Reasonable” means the good-faith standard we’d expect of any member trade — scoped in the one-page agreement.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8404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E2A1C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Already moving: the roadmap</a:t>
            </a:r>
            <a:endParaRPr lang="en-US" sz="3600" dirty="0"/>
          </a:p>
        </p:txBody>
      </p:sp>
      <p:pic>
        <p:nvPicPr>
          <p:cNvPr id="3" name="Image 0" descr="/sessions/kind-great-lovelace/deck/motif.png">    </p:cNvPr>
          <p:cNvPicPr>
            <a:picLocks noChangeAspect="1"/>
          </p:cNvPicPr>
          <p:nvPr/>
        </p:nvPicPr>
        <p:blipFill>
          <a:blip r:embed="rId1">
            <a:alphaModFix amt="88000"/>
          </a:blip>
          <a:stretch>
            <a:fillRect/>
          </a:stretch>
        </p:blipFill>
        <p:spPr>
          <a:xfrm>
            <a:off x="7863840" y="228600"/>
            <a:ext cx="3840480" cy="140817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" y="184708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5" name="Shape 2"/>
          <p:cNvSpPr/>
          <p:nvPr/>
        </p:nvSpPr>
        <p:spPr>
          <a:xfrm>
            <a:off x="932688" y="230428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6" name="Text 3"/>
          <p:cNvSpPr/>
          <p:nvPr/>
        </p:nvSpPr>
        <p:spPr>
          <a:xfrm>
            <a:off x="14630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NOW — shipping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389120" y="173736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Shot tracer with flight stats, plays-like profile view, green fall-lines, club-distance learning, scorecard + GHIN helper, offline install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731520" y="3264408"/>
            <a:ext cx="457200" cy="457200"/>
          </a:xfrm>
          <a:prstGeom prst="ellipse">
            <a:avLst/>
          </a:prstGeom>
          <a:solidFill>
            <a:srgbClr val="1E7A4A"/>
          </a:solidFill>
          <a:ln/>
        </p:spPr>
      </p:sp>
      <p:sp>
        <p:nvSpPr>
          <p:cNvPr id="9" name="Shape 6"/>
          <p:cNvSpPr/>
          <p:nvPr/>
        </p:nvSpPr>
        <p:spPr>
          <a:xfrm>
            <a:off x="932688" y="3721608"/>
            <a:ext cx="54864" cy="960120"/>
          </a:xfrm>
          <a:prstGeom prst="rect">
            <a:avLst/>
          </a:prstGeom>
          <a:solidFill>
            <a:srgbClr val="D5E8DC"/>
          </a:solidFill>
          <a:ln/>
        </p:spPr>
      </p:sp>
      <p:sp>
        <p:nvSpPr>
          <p:cNvPr id="10" name="Text 7"/>
          <p:cNvSpPr/>
          <p:nvPr/>
        </p:nvSpPr>
        <p:spPr>
          <a:xfrm>
            <a:off x="1463040" y="31546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FALL 2026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389120" y="315468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Member beta round, GPS capture of the one unmapped tee (Hole 5 Red), back-tee refinements, feedback sweep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31520" y="4681728"/>
            <a:ext cx="457200" cy="457200"/>
          </a:xfrm>
          <a:prstGeom prst="ellipse">
            <a:avLst/>
          </a:prstGeom>
          <a:solidFill>
            <a:srgbClr val="F000C2"/>
          </a:solidFill>
          <a:ln/>
        </p:spPr>
      </p:sp>
      <p:sp>
        <p:nvSpPr>
          <p:cNvPr id="13" name="Text 10"/>
          <p:cNvSpPr/>
          <p:nvPr/>
        </p:nvSpPr>
        <p:spPr>
          <a:xfrm>
            <a:off x="1463040" y="4572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1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389120" y="4572000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63C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AI-illustrated hole art, cinematic hole flyovers, phone-to-iPad round sync, practice-round mode — club input steers the order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468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WBYC Rangefinder · a member-built proposal ·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71F13">
              <a:alpha val="6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Didot" pitchFamily="34" charset="0"/>
                <a:ea typeface="Didot" pitchFamily="34" charset="-122"/>
                <a:cs typeface="Didot" pitchFamily="34" charset="-120"/>
              </a:rPr>
              <a:t>The club in every member’s pocket.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58368" y="35661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One walkthrough on the first tee will make the case better than any slide. Shall we book it?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Artig</a:t>
            </a:r>
            <a:pPr indent="0" marL="0">
              <a:buNone/>
            </a:pPr>
            <a:r>
              <a:rPr lang="en-US" sz="1500" dirty="0">
                <a:solidFill>
                  <a:srgbClr val="C9EED9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  ·   kit@kitartig.com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2026-07-13T02:07:26Z</dcterms:created>
  <dcterms:modified xsi:type="dcterms:W3CDTF">2026-07-13T02:07:26Z</dcterms:modified>
</cp:coreProperties>
</file>